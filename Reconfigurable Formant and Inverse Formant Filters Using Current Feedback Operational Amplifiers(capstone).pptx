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66" r:id="rId3"/>
    <p:sldId id="257" r:id="rId4"/>
    <p:sldId id="258" r:id="rId5"/>
    <p:sldId id="259" r:id="rId6"/>
    <p:sldId id="260" r:id="rId7"/>
    <p:sldId id="261" r:id="rId8"/>
    <p:sldId id="262" r:id="rId9"/>
    <p:sldId id="263" r:id="rId10"/>
    <p:sldId id="264" r:id="rId11"/>
    <p:sldId id="265" r:id="rId12"/>
  </p:sldIdLst>
  <p:sldSz cx="12192000" cy="6858000"/>
  <p:notesSz cx="6858000" cy="12192000"/>
  <p:embeddedFontLst>
    <p:embeddedFont>
      <p:font typeface="Cambria" panose="02040503050406030204" pitchFamily="18" charset="0"/>
      <p:regular r:id="rId14"/>
      <p:bold r:id="rId15"/>
      <p:italic r:id="rId16"/>
      <p:boldItalic r:id="rId17"/>
    </p:embeddedFont>
    <p:embeddedFont>
      <p:font typeface="Candara" panose="020E0502030303020204" pitchFamily="34" charset="0"/>
      <p:regular r:id="rId18"/>
      <p:bold r:id="rId19"/>
      <p:italic r:id="rId20"/>
      <p:boldItalic r:id="rId21"/>
    </p:embeddedFont>
    <p:embeddedFont>
      <p:font typeface="Raleway" pitchFamily="2" charset="0"/>
      <p:regular r:id="rId22"/>
    </p:embeddedFont>
    <p:embeddedFont>
      <p:font typeface="Roboto" panose="02000000000000000000" pitchFamily="2" charset="0"/>
      <p:regular r:id="rId23"/>
    </p:embeddedFont>
    <p:embeddedFont>
      <p:font typeface="Roboto Bold" panose="02000000000000000000" charset="0"/>
      <p:regular r:id="rId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7" d="100"/>
          <a:sy n="77" d="100"/>
        </p:scale>
        <p:origin x="24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11000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CECF3"/>
          </a:solidFill>
          <a:ln/>
        </p:spPr>
        <p:txBody>
          <a:bodyPr/>
          <a:lstStyle/>
          <a:p>
            <a:endParaRPr/>
          </a:p>
        </p:txBody>
      </p:sp>
      <p:sp>
        <p:nvSpPr>
          <p:cNvPr id="3" name="Shape 1"/>
          <p:cNvSpPr/>
          <p:nvPr/>
        </p:nvSpPr>
        <p:spPr>
          <a:xfrm>
            <a:off x="0" y="0"/>
            <a:ext cx="12191695" cy="6858000"/>
          </a:xfrm>
          <a:prstGeom prst="rect">
            <a:avLst/>
          </a:prstGeom>
          <a:solidFill>
            <a:srgbClr val="CCCCCC">
              <a:alpha val="95000"/>
            </a:srgbClr>
          </a:solidFill>
          <a:ln/>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CECF3"/>
          </a:solidFill>
          <a:ln/>
        </p:spPr>
        <p:txBody>
          <a:bodyPr/>
          <a:lstStyle/>
          <a:p>
            <a:endParaRPr/>
          </a:p>
        </p:txBody>
      </p:sp>
      <p:sp>
        <p:nvSpPr>
          <p:cNvPr id="3" name="Shape 1"/>
          <p:cNvSpPr/>
          <p:nvPr/>
        </p:nvSpPr>
        <p:spPr>
          <a:xfrm>
            <a:off x="0" y="0"/>
            <a:ext cx="12191695" cy="6858000"/>
          </a:xfrm>
          <a:prstGeom prst="rect">
            <a:avLst/>
          </a:prstGeom>
          <a:solidFill>
            <a:srgbClr val="CCCCCC">
              <a:alpha val="95000"/>
            </a:srgbClr>
          </a:solidFill>
          <a:ln/>
        </p:spPr>
        <p:txBody>
          <a:bodyPr/>
          <a:lstStyle/>
          <a:p>
            <a:endParaRPr/>
          </a:p>
        </p:txBody>
      </p:sp>
      <p:pic>
        <p:nvPicPr>
          <p:cNvPr id="4"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5" name="Shape 2"/>
          <p:cNvSpPr/>
          <p:nvPr/>
        </p:nvSpPr>
        <p:spPr>
          <a:xfrm>
            <a:off x="0" y="0"/>
            <a:ext cx="12191695" cy="6858000"/>
          </a:xfrm>
          <a:prstGeom prst="rect">
            <a:avLst/>
          </a:prstGeom>
          <a:solidFill>
            <a:srgbClr val="CCCCCC">
              <a:alpha val="85000"/>
            </a:srgbClr>
          </a:solidFill>
          <a:ln/>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1652290"/>
            <a:ext cx="6296860" cy="2362597"/>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1B1B27"/>
                </a:solidFill>
                <a:latin typeface="Raleway" pitchFamily="34" charset="0"/>
                <a:ea typeface="Raleway" pitchFamily="34" charset="-122"/>
                <a:cs typeface="Raleway" pitchFamily="34" charset="-120"/>
              </a:rPr>
              <a:t>Reconfigurable Formant and Inverse Formant Filters Using Current Feedback Operational Amplifiers</a:t>
            </a:r>
            <a:endParaRPr lang="en-US" sz="3700" dirty="0"/>
          </a:p>
        </p:txBody>
      </p:sp>
      <p:sp>
        <p:nvSpPr>
          <p:cNvPr id="4" name="Text 1"/>
          <p:cNvSpPr/>
          <p:nvPr/>
        </p:nvSpPr>
        <p:spPr>
          <a:xfrm>
            <a:off x="5233360" y="4298355"/>
            <a:ext cx="6296860"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A unified CFOA topology for speech signal processing — minimizing component count while enabling full reconfigurability between resonator and anti-resonator functions.</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D10A81-B936-6566-6BE8-8897FC526124}"/>
              </a:ext>
            </a:extLst>
          </p:cNvPr>
          <p:cNvSpPr txBox="1"/>
          <p:nvPr/>
        </p:nvSpPr>
        <p:spPr>
          <a:xfrm>
            <a:off x="1513956" y="2240694"/>
            <a:ext cx="8199812" cy="2492990"/>
          </a:xfrm>
          <a:prstGeom prst="rect">
            <a:avLst/>
          </a:prstGeom>
          <a:noFill/>
        </p:spPr>
        <p:txBody>
          <a:bodyPr wrap="square">
            <a:spAutoFit/>
          </a:bodyPr>
          <a:lstStyle/>
          <a:p>
            <a:pPr algn="ctr"/>
            <a:r>
              <a:rPr lang="en-IN" sz="3200" u="sng" dirty="0">
                <a:latin typeface="Candara" panose="020E0502030303020204" pitchFamily="34" charset="0"/>
              </a:rPr>
              <a:t>Team &amp;Guidance</a:t>
            </a:r>
          </a:p>
          <a:p>
            <a:pPr algn="ctr"/>
            <a:endParaRPr lang="en-IN" dirty="0">
              <a:solidFill>
                <a:schemeClr val="accent1"/>
              </a:solidFill>
            </a:endParaRPr>
          </a:p>
          <a:p>
            <a:pPr algn="ctr"/>
            <a:r>
              <a:rPr lang="en-IN" sz="2800" dirty="0">
                <a:latin typeface="Candara" panose="020E0502030303020204" pitchFamily="34" charset="0"/>
              </a:rPr>
              <a:t>Gurumurthy </a:t>
            </a:r>
            <a:r>
              <a:rPr lang="en-IN" sz="2800" dirty="0" err="1">
                <a:latin typeface="Candara" panose="020E0502030303020204" pitchFamily="34" charset="0"/>
              </a:rPr>
              <a:t>Komanapalli</a:t>
            </a:r>
            <a:endParaRPr lang="en-IN" sz="2800" dirty="0">
              <a:latin typeface="Candara" panose="020E0502030303020204" pitchFamily="34" charset="0"/>
            </a:endParaRPr>
          </a:p>
          <a:p>
            <a:pPr algn="ctr"/>
            <a:endParaRPr lang="en-IN" dirty="0">
              <a:solidFill>
                <a:schemeClr val="accent1"/>
              </a:solidFill>
            </a:endParaRPr>
          </a:p>
          <a:p>
            <a:pPr algn="ctr"/>
            <a:r>
              <a:rPr lang="en-IN" sz="2000" dirty="0">
                <a:solidFill>
                  <a:schemeClr val="tx1">
                    <a:lumMod val="85000"/>
                    <a:lumOff val="15000"/>
                  </a:schemeClr>
                </a:solidFill>
                <a:latin typeface="Cambria" panose="02040503050406030204" pitchFamily="18" charset="0"/>
                <a:ea typeface="Cambria" panose="02040503050406030204" pitchFamily="18" charset="0"/>
              </a:rPr>
              <a:t>23BEC7161 – Bana Yogini</a:t>
            </a:r>
          </a:p>
          <a:p>
            <a:pPr algn="ctr"/>
            <a:r>
              <a:rPr lang="en-IN" sz="2000" dirty="0">
                <a:solidFill>
                  <a:schemeClr val="tx1">
                    <a:lumMod val="85000"/>
                    <a:lumOff val="15000"/>
                  </a:schemeClr>
                </a:solidFill>
                <a:latin typeface="Cambria" panose="02040503050406030204" pitchFamily="18" charset="0"/>
                <a:ea typeface="Cambria" panose="02040503050406030204" pitchFamily="18" charset="0"/>
              </a:rPr>
              <a:t>23BEC7128 – K Akhila</a:t>
            </a:r>
          </a:p>
          <a:p>
            <a:pPr algn="ctr"/>
            <a:r>
              <a:rPr lang="en-IN" sz="2000" dirty="0">
                <a:solidFill>
                  <a:schemeClr val="tx1">
                    <a:lumMod val="85000"/>
                    <a:lumOff val="15000"/>
                  </a:schemeClr>
                </a:solidFill>
                <a:latin typeface="Cambria" panose="02040503050406030204" pitchFamily="18" charset="0"/>
                <a:ea typeface="Cambria" panose="02040503050406030204" pitchFamily="18" charset="0"/>
              </a:rPr>
              <a:t>23BEC7113 – Madhusri V</a:t>
            </a:r>
          </a:p>
        </p:txBody>
      </p:sp>
    </p:spTree>
    <p:extLst>
      <p:ext uri="{BB962C8B-B14F-4D97-AF65-F5344CB8AC3E}">
        <p14:creationId xmlns:p14="http://schemas.microsoft.com/office/powerpoint/2010/main" val="38688225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1940520"/>
            <a:ext cx="6296860" cy="118129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1B1B27"/>
                </a:solidFill>
                <a:latin typeface="Raleway" pitchFamily="34" charset="0"/>
                <a:ea typeface="Raleway" pitchFamily="34" charset="-122"/>
                <a:cs typeface="Raleway" pitchFamily="34" charset="-120"/>
              </a:rPr>
              <a:t>Introduction: Unpacking Formant Filters</a:t>
            </a:r>
            <a:endParaRPr lang="en-US" sz="3700" dirty="0"/>
          </a:p>
        </p:txBody>
      </p:sp>
      <p:sp>
        <p:nvSpPr>
          <p:cNvPr id="4" name="Text 1"/>
          <p:cNvSpPr/>
          <p:nvPr/>
        </p:nvSpPr>
        <p:spPr>
          <a:xfrm>
            <a:off x="661475" y="3405287"/>
            <a:ext cx="6296860" cy="1512094"/>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Formant filters are crucial for shaping speech signals, acting as acoustic fingerprints. This presentation explores their significance in signal conditioning and the pivotal role of Current Feedback Operational Amplifiers (CFOAs) in creating highly reconfigurable and efficient filter designs.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1123057"/>
            <a:ext cx="6296860" cy="118129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1B1B27"/>
                </a:solidFill>
                <a:latin typeface="Raleway" pitchFamily="34" charset="0"/>
                <a:ea typeface="Raleway" pitchFamily="34" charset="-122"/>
                <a:cs typeface="Raleway" pitchFamily="34" charset="-120"/>
              </a:rPr>
              <a:t>Current Challenges in Formant Filter Design</a:t>
            </a:r>
            <a:endParaRPr lang="en-US" sz="3700" dirty="0"/>
          </a:p>
        </p:txBody>
      </p:sp>
      <p:sp>
        <p:nvSpPr>
          <p:cNvPr id="4" name="Text 1"/>
          <p:cNvSpPr/>
          <p:nvPr/>
        </p:nvSpPr>
        <p:spPr>
          <a:xfrm>
            <a:off x="661475" y="2587823"/>
            <a:ext cx="6296860" cy="3147020"/>
          </a:xfrm>
          <a:prstGeom prst="rect">
            <a:avLst/>
          </a:prstGeom>
          <a:noFill/>
          <a:ln/>
        </p:spPr>
        <p:txBody>
          <a:bodyPr wrap="square" lIns="0" tIns="0" rIns="0" bIns="0" rtlCol="0" anchor="t">
            <a:normAutofit/>
          </a:bodyPr>
          <a:lstStyle/>
          <a:p>
            <a:pPr marL="0" indent="0" algn="l">
              <a:lnSpc>
                <a:spcPct val="133000"/>
              </a:lnSpc>
              <a:spcAft>
                <a:spcPts val="1650"/>
              </a:spcAft>
              <a:buNone/>
            </a:pPr>
            <a:r>
              <a:rPr lang="en-US" sz="1450" dirty="0">
                <a:solidFill>
                  <a:srgbClr val="3C3939"/>
                </a:solidFill>
                <a:latin typeface="Roboto" pitchFamily="34" charset="0"/>
                <a:ea typeface="Roboto" pitchFamily="34" charset="-122"/>
                <a:cs typeface="Roboto" pitchFamily="34" charset="-120"/>
              </a:rPr>
              <a:t>Existing implementations demand distinct circuits for </a:t>
            </a:r>
            <a:r>
              <a:rPr lang="en-US" sz="1450" b="1" dirty="0">
                <a:solidFill>
                  <a:srgbClr val="3C3939"/>
                </a:solidFill>
                <a:latin typeface="Roboto Bold" pitchFamily="34" charset="0"/>
                <a:ea typeface="Roboto Bold" pitchFamily="34" charset="-122"/>
                <a:cs typeface="Roboto Bold" pitchFamily="34" charset="-120"/>
              </a:rPr>
              <a:t>resonators</a:t>
            </a:r>
            <a:r>
              <a:rPr lang="en-US" sz="1450" dirty="0">
                <a:solidFill>
                  <a:srgbClr val="3C3939"/>
                </a:solidFill>
                <a:latin typeface="Roboto" pitchFamily="34" charset="0"/>
                <a:ea typeface="Roboto" pitchFamily="34" charset="-122"/>
                <a:cs typeface="Roboto" pitchFamily="34" charset="-120"/>
              </a:rPr>
              <a:t> and </a:t>
            </a:r>
            <a:r>
              <a:rPr lang="en-US" sz="1450" b="1" dirty="0">
                <a:solidFill>
                  <a:srgbClr val="3C3939"/>
                </a:solidFill>
                <a:latin typeface="Roboto Bold" pitchFamily="34" charset="0"/>
                <a:ea typeface="Roboto Bold" pitchFamily="34" charset="-122"/>
                <a:cs typeface="Roboto Bold" pitchFamily="34" charset="-120"/>
              </a:rPr>
              <a:t>anti-resonators</a:t>
            </a:r>
            <a:r>
              <a:rPr lang="en-US" sz="1450" dirty="0">
                <a:solidFill>
                  <a:srgbClr val="3C3939"/>
                </a:solidFill>
                <a:latin typeface="Roboto" pitchFamily="34" charset="0"/>
                <a:ea typeface="Roboto" pitchFamily="34" charset="-122"/>
                <a:cs typeface="Roboto" pitchFamily="34" charset="-120"/>
              </a:rPr>
              <a:t>, significantly increasing design complexity and requiring separate topologies.</a:t>
            </a:r>
            <a:endParaRPr lang="en-US" sz="1450" dirty="0"/>
          </a:p>
          <a:p>
            <a:pPr marL="0" indent="0" algn="l">
              <a:lnSpc>
                <a:spcPct val="133000"/>
              </a:lnSpc>
              <a:spcAft>
                <a:spcPts val="1650"/>
              </a:spcAft>
              <a:buNone/>
            </a:pPr>
            <a:r>
              <a:rPr lang="en-US" sz="1450" dirty="0">
                <a:solidFill>
                  <a:srgbClr val="3C3939"/>
                </a:solidFill>
                <a:latin typeface="Roboto" pitchFamily="34" charset="0"/>
                <a:ea typeface="Roboto" pitchFamily="34" charset="-122"/>
                <a:cs typeface="Roboto" pitchFamily="34" charset="-120"/>
              </a:rPr>
              <a:t>Peaking filter methods exacerbate this issue, requiring up to </a:t>
            </a:r>
            <a:r>
              <a:rPr lang="en-US" sz="1450" b="1" dirty="0">
                <a:solidFill>
                  <a:srgbClr val="3C3939"/>
                </a:solidFill>
                <a:latin typeface="Roboto Bold" pitchFamily="34" charset="0"/>
                <a:ea typeface="Roboto Bold" pitchFamily="34" charset="-122"/>
                <a:cs typeface="Roboto Bold" pitchFamily="34" charset="-120"/>
              </a:rPr>
              <a:t>seven operational transconductance amplifiers (OTAs)</a:t>
            </a:r>
            <a:r>
              <a:rPr lang="en-US" sz="1450" dirty="0">
                <a:solidFill>
                  <a:srgbClr val="3C3939"/>
                </a:solidFill>
                <a:latin typeface="Roboto" pitchFamily="34" charset="0"/>
                <a:ea typeface="Roboto" pitchFamily="34" charset="-122"/>
                <a:cs typeface="Roboto" pitchFamily="34" charset="-120"/>
              </a:rPr>
              <a:t> for single functions, leading to excessive component counts and inefficiency.</a:t>
            </a:r>
            <a:endParaRPr lang="en-US" sz="1450" dirty="0"/>
          </a:p>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This topological fragmentation and component overhead ultimately creates a critical </a:t>
            </a:r>
            <a:r>
              <a:rPr lang="en-US" sz="1450" b="1" dirty="0">
                <a:solidFill>
                  <a:srgbClr val="3C3939"/>
                </a:solidFill>
                <a:latin typeface="Roboto Bold" pitchFamily="34" charset="0"/>
                <a:ea typeface="Roboto Bold" pitchFamily="34" charset="-122"/>
                <a:cs typeface="Roboto Bold" pitchFamily="34" charset="-120"/>
              </a:rPr>
              <a:t>design bottleneck</a:t>
            </a:r>
            <a:r>
              <a:rPr lang="en-US" sz="1450" dirty="0">
                <a:solidFill>
                  <a:srgbClr val="3C3939"/>
                </a:solidFill>
                <a:latin typeface="Roboto" pitchFamily="34" charset="0"/>
                <a:ea typeface="Roboto" pitchFamily="34" charset="-122"/>
                <a:cs typeface="Roboto" pitchFamily="34" charset="-120"/>
              </a:rPr>
              <a:t> in speech signal processing applications.</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2387104"/>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B1B27"/>
                </a:solidFill>
                <a:latin typeface="Raleway" pitchFamily="34" charset="0"/>
                <a:ea typeface="Raleway" pitchFamily="34" charset="-122"/>
                <a:cs typeface="Raleway" pitchFamily="34" charset="-120"/>
              </a:rPr>
              <a:t>Motivation: The Need for Optimization</a:t>
            </a:r>
            <a:endParaRPr lang="en-US" sz="3700" dirty="0"/>
          </a:p>
        </p:txBody>
      </p:sp>
      <p:sp>
        <p:nvSpPr>
          <p:cNvPr id="3" name="Text 1"/>
          <p:cNvSpPr/>
          <p:nvPr/>
        </p:nvSpPr>
        <p:spPr>
          <a:xfrm>
            <a:off x="661475" y="3261221"/>
            <a:ext cx="10868745"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Existing speech signal processing systems often suffer from complexity due to a high component count, limiting their adaptability and practical deployment. Our motivation stems from the critical need for a unified, reconfigurable topology that not only minimizes hardware requirements but also maintains robust performance across diverse applications, from speech synthesis to telecommunications.</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241524"/>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B1B27"/>
                </a:solidFill>
                <a:latin typeface="Raleway" pitchFamily="34" charset="0"/>
                <a:ea typeface="Raleway" pitchFamily="34" charset="-122"/>
                <a:cs typeface="Raleway" pitchFamily="34" charset="-120"/>
              </a:rPr>
              <a:t>Project Objectives</a:t>
            </a:r>
            <a:endParaRPr lang="en-US" sz="3700" dirty="0"/>
          </a:p>
        </p:txBody>
      </p:sp>
      <p:sp>
        <p:nvSpPr>
          <p:cNvPr id="3" name="Text 1"/>
          <p:cNvSpPr/>
          <p:nvPr/>
        </p:nvSpPr>
        <p:spPr>
          <a:xfrm>
            <a:off x="661475" y="2210197"/>
            <a:ext cx="11478330" cy="302419"/>
          </a:xfrm>
          <a:prstGeom prst="rect">
            <a:avLst/>
          </a:prstGeom>
          <a:noFill/>
          <a:ln/>
        </p:spPr>
        <p:txBody>
          <a:bodyPr wrap="none" lIns="0" tIns="0" rIns="0" bIns="0" rtlCol="0" anchor="t"/>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Our research aims to address current limitations in speech signal processing by focusing on three key objectives:</a:t>
            </a:r>
            <a:endParaRPr lang="en-US" sz="14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725241"/>
            <a:ext cx="3496877" cy="2891135"/>
          </a:xfrm>
          <a:prstGeom prst="rect">
            <a:avLst/>
          </a:prstGeom>
        </p:spPr>
      </p:pic>
      <p:sp>
        <p:nvSpPr>
          <p:cNvPr id="5" name="Text 2"/>
          <p:cNvSpPr/>
          <p:nvPr/>
        </p:nvSpPr>
        <p:spPr>
          <a:xfrm>
            <a:off x="2296410" y="2867025"/>
            <a:ext cx="226808" cy="283468"/>
          </a:xfrm>
          <a:prstGeom prst="rect">
            <a:avLst/>
          </a:prstGeom>
          <a:noFill/>
          <a:ln/>
        </p:spPr>
        <p:txBody>
          <a:bodyPr wrap="none" lIns="0" tIns="0" rIns="0" bIns="0" rtlCol="0" anchor="ctr"/>
          <a:lstStyle/>
          <a:p>
            <a:pPr marL="0" indent="0" algn="ctr">
              <a:lnSpc>
                <a:spcPct val="100000"/>
              </a:lnSpc>
              <a:buNone/>
            </a:pPr>
            <a:r>
              <a:rPr lang="en-US" sz="1750" dirty="0">
                <a:solidFill>
                  <a:srgbClr val="FFFFFF"/>
                </a:solidFill>
                <a:latin typeface="Raleway" pitchFamily="34" charset="0"/>
                <a:ea typeface="Raleway" pitchFamily="34" charset="-122"/>
                <a:cs typeface="Raleway" pitchFamily="34" charset="-120"/>
              </a:rPr>
              <a:t>1</a:t>
            </a:r>
            <a:endParaRPr lang="en-US" sz="1750" dirty="0"/>
          </a:p>
        </p:txBody>
      </p:sp>
      <p:sp>
        <p:nvSpPr>
          <p:cNvPr id="6" name="Text 3"/>
          <p:cNvSpPr/>
          <p:nvPr/>
        </p:nvSpPr>
        <p:spPr>
          <a:xfrm>
            <a:off x="875881" y="3481189"/>
            <a:ext cx="3068065"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Unified CFOA Topology</a:t>
            </a:r>
            <a:endParaRPr lang="en-US" sz="1850" dirty="0"/>
          </a:p>
        </p:txBody>
      </p:sp>
      <p:sp>
        <p:nvSpPr>
          <p:cNvPr id="7" name="Text 4"/>
          <p:cNvSpPr/>
          <p:nvPr/>
        </p:nvSpPr>
        <p:spPr>
          <a:xfrm>
            <a:off x="875881" y="3889871"/>
            <a:ext cx="3068065" cy="1512094"/>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Design a single Current Feedback Operational Amplifier (CFOA)-based topology capable of realizing both formant and inverse formant filters with minimal active elements.</a:t>
            </a:r>
            <a:endParaRPr lang="en-US" sz="145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47359" y="2725241"/>
            <a:ext cx="3496877" cy="2891135"/>
          </a:xfrm>
          <a:prstGeom prst="rect">
            <a:avLst/>
          </a:prstGeom>
        </p:spPr>
      </p:pic>
      <p:sp>
        <p:nvSpPr>
          <p:cNvPr id="9" name="Text 5"/>
          <p:cNvSpPr/>
          <p:nvPr/>
        </p:nvSpPr>
        <p:spPr>
          <a:xfrm>
            <a:off x="5982294" y="2867025"/>
            <a:ext cx="226808" cy="283468"/>
          </a:xfrm>
          <a:prstGeom prst="rect">
            <a:avLst/>
          </a:prstGeom>
          <a:noFill/>
          <a:ln/>
        </p:spPr>
        <p:txBody>
          <a:bodyPr wrap="none" lIns="0" tIns="0" rIns="0" bIns="0" rtlCol="0" anchor="ctr"/>
          <a:lstStyle/>
          <a:p>
            <a:pPr marL="0" indent="0" algn="ctr">
              <a:lnSpc>
                <a:spcPct val="100000"/>
              </a:lnSpc>
              <a:buNone/>
            </a:pPr>
            <a:r>
              <a:rPr lang="en-US" sz="1750" dirty="0">
                <a:solidFill>
                  <a:srgbClr val="FFFFFF"/>
                </a:solidFill>
                <a:latin typeface="Raleway" pitchFamily="34" charset="0"/>
                <a:ea typeface="Raleway" pitchFamily="34" charset="-122"/>
                <a:cs typeface="Raleway" pitchFamily="34" charset="-120"/>
              </a:rPr>
              <a:t>2</a:t>
            </a:r>
            <a:endParaRPr lang="en-US" sz="1750" dirty="0"/>
          </a:p>
        </p:txBody>
      </p:sp>
      <p:sp>
        <p:nvSpPr>
          <p:cNvPr id="10" name="Text 6"/>
          <p:cNvSpPr/>
          <p:nvPr/>
        </p:nvSpPr>
        <p:spPr>
          <a:xfrm>
            <a:off x="4561766" y="3481189"/>
            <a:ext cx="3068065"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Validation &amp; Implementation</a:t>
            </a:r>
            <a:endParaRPr lang="en-US" sz="1850" dirty="0"/>
          </a:p>
        </p:txBody>
      </p:sp>
      <p:sp>
        <p:nvSpPr>
          <p:cNvPr id="11" name="Text 7"/>
          <p:cNvSpPr/>
          <p:nvPr/>
        </p:nvSpPr>
        <p:spPr>
          <a:xfrm>
            <a:off x="4561766" y="4185146"/>
            <a:ext cx="3068065"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Rigorously validate the proposed topology through detailed simulations and practical hardware implementation.</a:t>
            </a:r>
            <a:endParaRPr lang="en-US" sz="145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33244" y="2725241"/>
            <a:ext cx="3496877" cy="2891135"/>
          </a:xfrm>
          <a:prstGeom prst="rect">
            <a:avLst/>
          </a:prstGeom>
        </p:spPr>
      </p:pic>
      <p:sp>
        <p:nvSpPr>
          <p:cNvPr id="13" name="Text 8"/>
          <p:cNvSpPr/>
          <p:nvPr/>
        </p:nvSpPr>
        <p:spPr>
          <a:xfrm>
            <a:off x="9668179" y="2867025"/>
            <a:ext cx="226808" cy="283468"/>
          </a:xfrm>
          <a:prstGeom prst="rect">
            <a:avLst/>
          </a:prstGeom>
          <a:noFill/>
          <a:ln/>
        </p:spPr>
        <p:txBody>
          <a:bodyPr wrap="none" lIns="0" tIns="0" rIns="0" bIns="0" rtlCol="0" anchor="ctr"/>
          <a:lstStyle/>
          <a:p>
            <a:pPr marL="0" indent="0" algn="ctr">
              <a:lnSpc>
                <a:spcPct val="100000"/>
              </a:lnSpc>
              <a:buNone/>
            </a:pPr>
            <a:r>
              <a:rPr lang="en-US" sz="1750" dirty="0">
                <a:solidFill>
                  <a:srgbClr val="FFFFFF"/>
                </a:solidFill>
                <a:latin typeface="Raleway" pitchFamily="34" charset="0"/>
                <a:ea typeface="Raleway" pitchFamily="34" charset="-122"/>
                <a:cs typeface="Raleway" pitchFamily="34" charset="-120"/>
              </a:rPr>
              <a:t>3</a:t>
            </a:r>
            <a:endParaRPr lang="en-US" sz="1750" dirty="0"/>
          </a:p>
        </p:txBody>
      </p:sp>
      <p:sp>
        <p:nvSpPr>
          <p:cNvPr id="14" name="Text 9"/>
          <p:cNvSpPr/>
          <p:nvPr/>
        </p:nvSpPr>
        <p:spPr>
          <a:xfrm>
            <a:off x="8247650" y="3481189"/>
            <a:ext cx="3068065"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Performance Benchmarking</a:t>
            </a:r>
            <a:endParaRPr lang="en-US" sz="1850" dirty="0"/>
          </a:p>
        </p:txBody>
      </p:sp>
      <p:sp>
        <p:nvSpPr>
          <p:cNvPr id="15" name="Text 10"/>
          <p:cNvSpPr/>
          <p:nvPr/>
        </p:nvSpPr>
        <p:spPr>
          <a:xfrm>
            <a:off x="8247650" y="3889871"/>
            <a:ext cx="3068065" cy="1512094"/>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Conduct a comprehensive comparison of the filter's performance against existing approaches to highlight its advantages.</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729655"/>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B1B27"/>
                </a:solidFill>
                <a:latin typeface="Raleway" pitchFamily="34" charset="0"/>
                <a:ea typeface="Raleway" pitchFamily="34" charset="-122"/>
                <a:cs typeface="Raleway" pitchFamily="34" charset="-120"/>
              </a:rPr>
              <a:t>Literature Review: Filter Implementations</a:t>
            </a:r>
            <a:endParaRPr lang="en-US" sz="370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698327"/>
            <a:ext cx="3496877" cy="3612555"/>
          </a:xfrm>
          <a:prstGeom prst="rect">
            <a:avLst/>
          </a:prstGeom>
        </p:spPr>
      </p:pic>
      <p:sp>
        <p:nvSpPr>
          <p:cNvPr id="4" name="Text 1"/>
          <p:cNvSpPr/>
          <p:nvPr/>
        </p:nvSpPr>
        <p:spPr>
          <a:xfrm>
            <a:off x="2268183" y="1826816"/>
            <a:ext cx="283461" cy="354409"/>
          </a:xfrm>
          <a:prstGeom prst="rect">
            <a:avLst/>
          </a:prstGeom>
          <a:noFill/>
          <a:ln/>
        </p:spPr>
        <p:txBody>
          <a:bodyPr wrap="none" lIns="0" tIns="0" rIns="0" bIns="0" rtlCol="0" anchor="ctr"/>
          <a:lstStyle/>
          <a:p>
            <a:pPr marL="0" indent="0" algn="ctr">
              <a:lnSpc>
                <a:spcPct val="100000"/>
              </a:lnSpc>
              <a:buNone/>
            </a:pPr>
            <a:r>
              <a:rPr lang="en-US" sz="2200" dirty="0">
                <a:solidFill>
                  <a:srgbClr val="3C3939"/>
                </a:solidFill>
                <a:latin typeface="Raleway" pitchFamily="34" charset="0"/>
                <a:ea typeface="Raleway" pitchFamily="34" charset="-122"/>
                <a:cs typeface="Raleway" pitchFamily="34" charset="-120"/>
              </a:rPr>
              <a:t>1</a:t>
            </a:r>
            <a:endParaRPr lang="en-US" sz="2200" dirty="0"/>
          </a:p>
        </p:txBody>
      </p:sp>
      <p:sp>
        <p:nvSpPr>
          <p:cNvPr id="5" name="Shape 2"/>
          <p:cNvSpPr/>
          <p:nvPr/>
        </p:nvSpPr>
        <p:spPr>
          <a:xfrm>
            <a:off x="875881" y="2479774"/>
            <a:ext cx="1020935" cy="287139"/>
          </a:xfrm>
          <a:prstGeom prst="roundRect">
            <a:avLst>
              <a:gd name="adj" fmla="val 22118"/>
            </a:avLst>
          </a:prstGeom>
          <a:solidFill>
            <a:srgbClr val="E1E1EA"/>
          </a:solidFill>
          <a:ln/>
        </p:spPr>
        <p:txBody>
          <a:bodyPr/>
          <a:lstStyle/>
          <a:p>
            <a:endParaRPr/>
          </a:p>
        </p:txBody>
      </p:sp>
      <p:sp>
        <p:nvSpPr>
          <p:cNvPr id="6" name="Text 3"/>
          <p:cNvSpPr/>
          <p:nvPr/>
        </p:nvSpPr>
        <p:spPr>
          <a:xfrm>
            <a:off x="989285" y="2536428"/>
            <a:ext cx="794127" cy="173831"/>
          </a:xfrm>
          <a:prstGeom prst="rect">
            <a:avLst/>
          </a:prstGeom>
          <a:noFill/>
          <a:ln/>
        </p:spPr>
        <p:txBody>
          <a:bodyPr wrap="none" lIns="0" tIns="0" rIns="0" bIns="0" rtlCol="0" anchor="t"/>
          <a:lstStyle/>
          <a:p>
            <a:pPr marL="0" indent="0" algn="l">
              <a:lnSpc>
                <a:spcPct val="96000"/>
              </a:lnSpc>
              <a:buNone/>
            </a:pPr>
            <a:r>
              <a:rPr lang="en-US" sz="1150" dirty="0">
                <a:solidFill>
                  <a:srgbClr val="3C3939"/>
                </a:solidFill>
                <a:latin typeface="Roboto" pitchFamily="34" charset="0"/>
                <a:ea typeface="Roboto" pitchFamily="34" charset="-122"/>
                <a:cs typeface="Roboto" pitchFamily="34" charset="-120"/>
              </a:rPr>
              <a:t>OTA-BASED</a:t>
            </a:r>
            <a:endParaRPr lang="en-US" sz="1150" dirty="0"/>
          </a:p>
        </p:txBody>
      </p:sp>
      <p:sp>
        <p:nvSpPr>
          <p:cNvPr id="7" name="Text 4"/>
          <p:cNvSpPr/>
          <p:nvPr/>
        </p:nvSpPr>
        <p:spPr>
          <a:xfrm>
            <a:off x="875881" y="2979539"/>
            <a:ext cx="3068065" cy="1814513"/>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Offers high tunability and flexibility, making them suitable for adaptive filter designs. However, they can introduce non-linearity issues and often require more complex control circuitry.</a:t>
            </a:r>
            <a:endParaRPr lang="en-US" sz="145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47359" y="1698327"/>
            <a:ext cx="3496877" cy="3612555"/>
          </a:xfrm>
          <a:prstGeom prst="rect">
            <a:avLst/>
          </a:prstGeom>
        </p:spPr>
      </p:pic>
      <p:sp>
        <p:nvSpPr>
          <p:cNvPr id="9" name="Text 5"/>
          <p:cNvSpPr/>
          <p:nvPr/>
        </p:nvSpPr>
        <p:spPr>
          <a:xfrm>
            <a:off x="5954067" y="1826816"/>
            <a:ext cx="283461" cy="354409"/>
          </a:xfrm>
          <a:prstGeom prst="rect">
            <a:avLst/>
          </a:prstGeom>
          <a:noFill/>
          <a:ln/>
        </p:spPr>
        <p:txBody>
          <a:bodyPr wrap="none" lIns="0" tIns="0" rIns="0" bIns="0" rtlCol="0" anchor="ctr"/>
          <a:lstStyle/>
          <a:p>
            <a:pPr marL="0" indent="0" algn="ctr">
              <a:lnSpc>
                <a:spcPct val="100000"/>
              </a:lnSpc>
              <a:buNone/>
            </a:pPr>
            <a:r>
              <a:rPr lang="en-US" sz="2200" dirty="0">
                <a:solidFill>
                  <a:srgbClr val="3C3939"/>
                </a:solidFill>
                <a:latin typeface="Raleway" pitchFamily="34" charset="0"/>
                <a:ea typeface="Raleway" pitchFamily="34" charset="-122"/>
                <a:cs typeface="Raleway" pitchFamily="34" charset="-120"/>
              </a:rPr>
              <a:t>2</a:t>
            </a:r>
            <a:endParaRPr lang="en-US" sz="2200" dirty="0"/>
          </a:p>
        </p:txBody>
      </p:sp>
      <p:sp>
        <p:nvSpPr>
          <p:cNvPr id="10" name="Shape 6"/>
          <p:cNvSpPr/>
          <p:nvPr/>
        </p:nvSpPr>
        <p:spPr>
          <a:xfrm>
            <a:off x="4561766" y="2479774"/>
            <a:ext cx="1794922" cy="287139"/>
          </a:xfrm>
          <a:prstGeom prst="roundRect">
            <a:avLst>
              <a:gd name="adj" fmla="val 22118"/>
            </a:avLst>
          </a:prstGeom>
          <a:solidFill>
            <a:srgbClr val="E1E1EA"/>
          </a:solidFill>
          <a:ln/>
        </p:spPr>
        <p:txBody>
          <a:bodyPr/>
          <a:lstStyle/>
          <a:p>
            <a:endParaRPr/>
          </a:p>
        </p:txBody>
      </p:sp>
      <p:sp>
        <p:nvSpPr>
          <p:cNvPr id="11" name="Text 7"/>
          <p:cNvSpPr/>
          <p:nvPr/>
        </p:nvSpPr>
        <p:spPr>
          <a:xfrm>
            <a:off x="4675170" y="2536428"/>
            <a:ext cx="1568113" cy="173831"/>
          </a:xfrm>
          <a:prstGeom prst="rect">
            <a:avLst/>
          </a:prstGeom>
          <a:noFill/>
          <a:ln/>
        </p:spPr>
        <p:txBody>
          <a:bodyPr wrap="none" lIns="0" tIns="0" rIns="0" bIns="0" rtlCol="0" anchor="t"/>
          <a:lstStyle/>
          <a:p>
            <a:pPr marL="0" indent="0" algn="l">
              <a:lnSpc>
                <a:spcPct val="96000"/>
              </a:lnSpc>
              <a:buNone/>
            </a:pPr>
            <a:r>
              <a:rPr lang="en-US" sz="1150" dirty="0">
                <a:solidFill>
                  <a:srgbClr val="3C3939"/>
                </a:solidFill>
                <a:latin typeface="Roboto" pitchFamily="34" charset="0"/>
                <a:ea typeface="Roboto" pitchFamily="34" charset="-122"/>
                <a:cs typeface="Roboto" pitchFamily="34" charset="-120"/>
              </a:rPr>
              <a:t>OP-AMP (SALLEN-KEY)</a:t>
            </a:r>
            <a:endParaRPr lang="en-US" sz="1150" dirty="0"/>
          </a:p>
        </p:txBody>
      </p:sp>
      <p:sp>
        <p:nvSpPr>
          <p:cNvPr id="12" name="Text 8"/>
          <p:cNvSpPr/>
          <p:nvPr/>
        </p:nvSpPr>
        <p:spPr>
          <a:xfrm>
            <a:off x="4561766" y="2979539"/>
            <a:ext cx="3068065" cy="2116931"/>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Known for their simplicity and ease of implementation, typically requiring fewer components. They are generally robust but offer limited tunability and can suffer from bandwidth limitations at higher frequencies.</a:t>
            </a:r>
            <a:endParaRPr lang="en-US" sz="1450" dirty="0"/>
          </a:p>
        </p:txBody>
      </p:sp>
      <p:pic>
        <p:nvPicPr>
          <p:cNvPr id="13"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33244" y="1698327"/>
            <a:ext cx="3496877" cy="3612555"/>
          </a:xfrm>
          <a:prstGeom prst="rect">
            <a:avLst/>
          </a:prstGeom>
        </p:spPr>
      </p:pic>
      <p:sp>
        <p:nvSpPr>
          <p:cNvPr id="14" name="Text 9"/>
          <p:cNvSpPr/>
          <p:nvPr/>
        </p:nvSpPr>
        <p:spPr>
          <a:xfrm>
            <a:off x="9639952" y="1826816"/>
            <a:ext cx="283461" cy="354409"/>
          </a:xfrm>
          <a:prstGeom prst="rect">
            <a:avLst/>
          </a:prstGeom>
          <a:noFill/>
          <a:ln/>
        </p:spPr>
        <p:txBody>
          <a:bodyPr wrap="none" lIns="0" tIns="0" rIns="0" bIns="0" rtlCol="0" anchor="ctr"/>
          <a:lstStyle/>
          <a:p>
            <a:pPr marL="0" indent="0" algn="ctr">
              <a:lnSpc>
                <a:spcPct val="100000"/>
              </a:lnSpc>
              <a:buNone/>
            </a:pPr>
            <a:r>
              <a:rPr lang="en-US" sz="2200" dirty="0">
                <a:solidFill>
                  <a:srgbClr val="3C3939"/>
                </a:solidFill>
                <a:latin typeface="Raleway" pitchFamily="34" charset="0"/>
                <a:ea typeface="Raleway" pitchFamily="34" charset="-122"/>
                <a:cs typeface="Raleway" pitchFamily="34" charset="-120"/>
              </a:rPr>
              <a:t>3</a:t>
            </a:r>
            <a:endParaRPr lang="en-US" sz="2200" dirty="0"/>
          </a:p>
        </p:txBody>
      </p:sp>
      <p:sp>
        <p:nvSpPr>
          <p:cNvPr id="15" name="Shape 10"/>
          <p:cNvSpPr/>
          <p:nvPr/>
        </p:nvSpPr>
        <p:spPr>
          <a:xfrm>
            <a:off x="8247650" y="2479774"/>
            <a:ext cx="1118961" cy="287139"/>
          </a:xfrm>
          <a:prstGeom prst="roundRect">
            <a:avLst>
              <a:gd name="adj" fmla="val 22118"/>
            </a:avLst>
          </a:prstGeom>
          <a:solidFill>
            <a:srgbClr val="E1E1EA"/>
          </a:solidFill>
          <a:ln/>
        </p:spPr>
        <p:txBody>
          <a:bodyPr/>
          <a:lstStyle/>
          <a:p>
            <a:endParaRPr/>
          </a:p>
        </p:txBody>
      </p:sp>
      <p:sp>
        <p:nvSpPr>
          <p:cNvPr id="16" name="Text 11"/>
          <p:cNvSpPr/>
          <p:nvPr/>
        </p:nvSpPr>
        <p:spPr>
          <a:xfrm>
            <a:off x="8361054" y="2536428"/>
            <a:ext cx="892153" cy="173831"/>
          </a:xfrm>
          <a:prstGeom prst="rect">
            <a:avLst/>
          </a:prstGeom>
          <a:noFill/>
          <a:ln/>
        </p:spPr>
        <p:txBody>
          <a:bodyPr wrap="none" lIns="0" tIns="0" rIns="0" bIns="0" rtlCol="0" anchor="t"/>
          <a:lstStyle/>
          <a:p>
            <a:pPr marL="0" indent="0" algn="l">
              <a:lnSpc>
                <a:spcPct val="96000"/>
              </a:lnSpc>
              <a:buNone/>
            </a:pPr>
            <a:r>
              <a:rPr lang="en-US" sz="1150" dirty="0">
                <a:solidFill>
                  <a:srgbClr val="3C3939"/>
                </a:solidFill>
                <a:latin typeface="Roboto" pitchFamily="34" charset="0"/>
                <a:ea typeface="Roboto" pitchFamily="34" charset="-122"/>
                <a:cs typeface="Roboto" pitchFamily="34" charset="-120"/>
              </a:rPr>
              <a:t>CFOA-BASED</a:t>
            </a:r>
            <a:endParaRPr lang="en-US" sz="1150" dirty="0"/>
          </a:p>
        </p:txBody>
      </p:sp>
      <p:sp>
        <p:nvSpPr>
          <p:cNvPr id="17" name="Text 12"/>
          <p:cNvSpPr/>
          <p:nvPr/>
        </p:nvSpPr>
        <p:spPr>
          <a:xfrm>
            <a:off x="8247650" y="2979539"/>
            <a:ext cx="3068065" cy="1814513"/>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Combines good linearity with wide bandwidth capabilities. They provide an excellent balance between tunability and component economy, offering reconfigurability for various filter functions.</a:t>
            </a:r>
            <a:endParaRPr lang="en-US" sz="1450" dirty="0"/>
          </a:p>
        </p:txBody>
      </p:sp>
      <p:sp>
        <p:nvSpPr>
          <p:cNvPr id="18" name="Text 13"/>
          <p:cNvSpPr/>
          <p:nvPr/>
        </p:nvSpPr>
        <p:spPr>
          <a:xfrm>
            <a:off x="661475" y="5523508"/>
            <a:ext cx="10868745"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Our survey highlighted the critical trade-offs in prior art, focusing on tunability, component economy, and bandwidth performance for effective filter design in speech processing.</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1801217"/>
            <a:ext cx="6296860" cy="944959"/>
          </a:xfrm>
          <a:prstGeom prst="rect">
            <a:avLst/>
          </a:prstGeom>
          <a:noFill/>
          <a:ln/>
        </p:spPr>
        <p:txBody>
          <a:bodyPr wrap="square" lIns="0" tIns="0" rIns="0" bIns="0" rtlCol="0" anchor="t">
            <a:normAutofit/>
          </a:bodyPr>
          <a:lstStyle/>
          <a:p>
            <a:pPr marL="0" indent="0" algn="l">
              <a:lnSpc>
                <a:spcPct val="104000"/>
              </a:lnSpc>
              <a:buNone/>
            </a:pPr>
            <a:r>
              <a:rPr lang="en-US" sz="2950" dirty="0">
                <a:solidFill>
                  <a:srgbClr val="1B1B27"/>
                </a:solidFill>
                <a:latin typeface="Raleway" pitchFamily="34" charset="0"/>
                <a:ea typeface="Raleway" pitchFamily="34" charset="-122"/>
                <a:cs typeface="Raleway" pitchFamily="34" charset="-120"/>
              </a:rPr>
              <a:t>Technical Foundation: Formant Filters</a:t>
            </a:r>
            <a:endParaRPr lang="en-US" sz="2950" dirty="0"/>
          </a:p>
        </p:txBody>
      </p:sp>
      <p:sp>
        <p:nvSpPr>
          <p:cNvPr id="4" name="Text 1"/>
          <p:cNvSpPr/>
          <p:nvPr/>
        </p:nvSpPr>
        <p:spPr>
          <a:xfrm>
            <a:off x="661475" y="3029645"/>
            <a:ext cx="6296860" cy="2027138"/>
          </a:xfrm>
          <a:prstGeom prst="rect">
            <a:avLst/>
          </a:prstGeom>
          <a:noFill/>
          <a:ln/>
        </p:spPr>
        <p:txBody>
          <a:bodyPr wrap="square" lIns="0" tIns="0" rIns="0" bIns="0" rtlCol="0" anchor="t">
            <a:normAutofit/>
          </a:bodyPr>
          <a:lstStyle/>
          <a:p>
            <a:pPr marL="0" indent="0" algn="l">
              <a:lnSpc>
                <a:spcPct val="133000"/>
              </a:lnSpc>
              <a:spcAft>
                <a:spcPts val="1650"/>
              </a:spcAft>
              <a:buNone/>
            </a:pPr>
            <a:r>
              <a:rPr lang="en-US" sz="1450" dirty="0">
                <a:solidFill>
                  <a:srgbClr val="3C3939"/>
                </a:solidFill>
                <a:latin typeface="Roboto" pitchFamily="34" charset="0"/>
                <a:ea typeface="Roboto" pitchFamily="34" charset="-122"/>
                <a:cs typeface="Roboto" pitchFamily="34" charset="-120"/>
              </a:rPr>
              <a:t>Formant filters mimic vocal tract resonances, shaping speech by creating a frequency response with characteristic peaks—formants—essential for vowel production.</a:t>
            </a:r>
            <a:endParaRPr lang="en-US" sz="1450" dirty="0"/>
          </a:p>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Inverse filters, or anti-resonators, perform the opposite function, suppressing these peaks. Their design relies on precise mathematical models to achieve accurate resonance and anti-resonance characteristics.</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2362696"/>
          </a:xfrm>
          <a:prstGeom prst="rect">
            <a:avLst/>
          </a:prstGeom>
        </p:spPr>
      </p:pic>
      <p:sp>
        <p:nvSpPr>
          <p:cNvPr id="3" name="Text 0"/>
          <p:cNvSpPr/>
          <p:nvPr/>
        </p:nvSpPr>
        <p:spPr>
          <a:xfrm>
            <a:off x="661475" y="3270845"/>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1B1B27"/>
                </a:solidFill>
                <a:latin typeface="Raleway" pitchFamily="34" charset="0"/>
                <a:ea typeface="Raleway" pitchFamily="34" charset="-122"/>
                <a:cs typeface="Raleway" pitchFamily="34" charset="-120"/>
              </a:rPr>
              <a:t>Key Components</a:t>
            </a:r>
            <a:endParaRPr lang="en-US" sz="2950" dirty="0"/>
          </a:p>
        </p:txBody>
      </p:sp>
      <p:sp>
        <p:nvSpPr>
          <p:cNvPr id="4" name="Text 1"/>
          <p:cNvSpPr/>
          <p:nvPr/>
        </p:nvSpPr>
        <p:spPr>
          <a:xfrm>
            <a:off x="661475" y="4026793"/>
            <a:ext cx="10868745" cy="1407914"/>
          </a:xfrm>
          <a:prstGeom prst="rect">
            <a:avLst/>
          </a:prstGeom>
          <a:noFill/>
          <a:ln/>
        </p:spPr>
        <p:txBody>
          <a:bodyPr wrap="square" lIns="0" tIns="75608" rIns="0" bIns="0" rtlCol="0" anchor="t">
            <a:normAutofit/>
          </a:bodyPr>
          <a:lstStyle/>
          <a:p>
            <a:pPr marL="294640" indent="-294640" algn="l">
              <a:lnSpc>
                <a:spcPct val="133000"/>
              </a:lnSpc>
              <a:buSzPct val="100000"/>
              <a:buChar char="•"/>
            </a:pPr>
            <a:r>
              <a:rPr lang="en-US" sz="1450" dirty="0">
                <a:solidFill>
                  <a:srgbClr val="3C3939"/>
                </a:solidFill>
                <a:latin typeface="Roboto" pitchFamily="34" charset="0"/>
                <a:ea typeface="Roboto" pitchFamily="34" charset="-122"/>
                <a:cs typeface="Roboto" pitchFamily="34" charset="-120"/>
              </a:rPr>
              <a:t>AD844 Current Feedback Operational Amplifiers</a:t>
            </a:r>
            <a:endParaRPr lang="en-US" sz="1450" dirty="0"/>
          </a:p>
          <a:p>
            <a:pPr marL="294640" indent="-294640" algn="l">
              <a:lnSpc>
                <a:spcPct val="133000"/>
              </a:lnSpc>
              <a:buSzPct val="100000"/>
              <a:buChar char="•"/>
            </a:pPr>
            <a:r>
              <a:rPr lang="en-US" sz="1450" dirty="0">
                <a:solidFill>
                  <a:srgbClr val="3C3939"/>
                </a:solidFill>
                <a:latin typeface="Roboto" pitchFamily="34" charset="0"/>
                <a:ea typeface="Roboto" pitchFamily="34" charset="-122"/>
                <a:cs typeface="Roboto" pitchFamily="34" charset="-120"/>
              </a:rPr>
              <a:t>Precision Resistors</a:t>
            </a:r>
            <a:endParaRPr lang="en-US" sz="1450" dirty="0"/>
          </a:p>
          <a:p>
            <a:pPr marL="294640" indent="-294640" algn="l">
              <a:lnSpc>
                <a:spcPct val="133000"/>
              </a:lnSpc>
              <a:buSzPct val="100000"/>
              <a:buChar char="•"/>
            </a:pPr>
            <a:r>
              <a:rPr lang="en-US" sz="1450" dirty="0">
                <a:solidFill>
                  <a:srgbClr val="3C3939"/>
                </a:solidFill>
                <a:latin typeface="Roboto" pitchFamily="34" charset="0"/>
                <a:ea typeface="Roboto" pitchFamily="34" charset="-122"/>
                <a:cs typeface="Roboto" pitchFamily="34" charset="-120"/>
              </a:rPr>
              <a:t>Capacitors</a:t>
            </a:r>
            <a:endParaRPr lang="en-US" sz="1450" dirty="0"/>
          </a:p>
          <a:p>
            <a:pPr marL="294640" indent="-294640" algn="l">
              <a:lnSpc>
                <a:spcPct val="133000"/>
              </a:lnSpc>
              <a:buSzPct val="100000"/>
              <a:buChar char="•"/>
            </a:pPr>
            <a:r>
              <a:rPr lang="en-US" sz="1450" dirty="0">
                <a:solidFill>
                  <a:srgbClr val="3C3939"/>
                </a:solidFill>
                <a:latin typeface="Roboto" pitchFamily="34" charset="0"/>
                <a:ea typeface="Roboto" pitchFamily="34" charset="-122"/>
                <a:cs typeface="Roboto" pitchFamily="34" charset="-120"/>
              </a:rPr>
              <a:t>Breadboard Prototyping Setup</a:t>
            </a:r>
            <a:endParaRPr lang="en-US" sz="1450" dirty="0"/>
          </a:p>
        </p:txBody>
      </p:sp>
      <p:sp>
        <p:nvSpPr>
          <p:cNvPr id="5" name="Text 2"/>
          <p:cNvSpPr/>
          <p:nvPr/>
        </p:nvSpPr>
        <p:spPr>
          <a:xfrm>
            <a:off x="661475" y="5647333"/>
            <a:ext cx="11478330" cy="302419"/>
          </a:xfrm>
          <a:prstGeom prst="rect">
            <a:avLst/>
          </a:prstGeom>
          <a:noFill/>
          <a:ln/>
        </p:spPr>
        <p:txBody>
          <a:bodyPr wrap="none" lIns="0" tIns="0" rIns="0" bIns="0" rtlCol="0" anchor="t"/>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These components form the foundation for our reconfigurable filter topology, enabling versatile speech signal processing.</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641548"/>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B1B27"/>
                </a:solidFill>
                <a:latin typeface="Raleway" pitchFamily="34" charset="0"/>
                <a:ea typeface="Raleway" pitchFamily="34" charset="-122"/>
                <a:cs typeface="Raleway" pitchFamily="34" charset="-120"/>
              </a:rPr>
              <a:t>Proposed Methodology</a:t>
            </a:r>
            <a:endParaRPr lang="en-US" sz="3700" dirty="0"/>
          </a:p>
        </p:txBody>
      </p:sp>
      <p:pic>
        <p:nvPicPr>
          <p:cNvPr id="3" name="Image 0" descr="preencoded.png"/>
          <p:cNvPicPr>
            <a:picLocks noChangeAspect="1"/>
          </p:cNvPicPr>
          <p:nvPr/>
        </p:nvPicPr>
        <p:blipFill>
          <a:blip r:embed="rId3"/>
          <a:stretch>
            <a:fillRect/>
          </a:stretch>
        </p:blipFill>
        <p:spPr>
          <a:xfrm>
            <a:off x="2904060" y="1610221"/>
            <a:ext cx="6383575" cy="3788767"/>
          </a:xfrm>
          <a:prstGeom prst="rect">
            <a:avLst/>
          </a:prstGeom>
        </p:spPr>
      </p:pic>
      <p:sp>
        <p:nvSpPr>
          <p:cNvPr id="4" name="Text 1"/>
          <p:cNvSpPr/>
          <p:nvPr/>
        </p:nvSpPr>
        <p:spPr>
          <a:xfrm>
            <a:off x="7347124" y="4367319"/>
            <a:ext cx="1586812" cy="611372"/>
          </a:xfrm>
          <a:prstGeom prst="rect">
            <a:avLst/>
          </a:prstGeom>
          <a:noFill/>
          <a:ln/>
        </p:spPr>
        <p:txBody>
          <a:bodyPr wrap="square" lIns="0" tIns="0" rIns="0" bIns="0" rtlCol="0" anchor="t">
            <a:normAutofit/>
          </a:bodyPr>
          <a:lstStyle/>
          <a:p>
            <a:pPr marL="0" indent="0" algn="ctr">
              <a:lnSpc>
                <a:spcPct val="104000"/>
              </a:lnSpc>
              <a:buNone/>
            </a:pPr>
            <a:r>
              <a:rPr lang="en-US" sz="1900" dirty="0">
                <a:solidFill>
                  <a:srgbClr val="3C3939"/>
                </a:solidFill>
                <a:latin typeface="Raleway" pitchFamily="34" charset="0"/>
                <a:ea typeface="Raleway" pitchFamily="34" charset="-122"/>
                <a:cs typeface="Raleway" pitchFamily="34" charset="-120"/>
              </a:rPr>
              <a:t>PSpice &amp; Hardware</a:t>
            </a:r>
            <a:endParaRPr lang="en-US" sz="1900" dirty="0"/>
          </a:p>
        </p:txBody>
      </p:sp>
      <p:sp>
        <p:nvSpPr>
          <p:cNvPr id="5" name="Text 2"/>
          <p:cNvSpPr/>
          <p:nvPr/>
        </p:nvSpPr>
        <p:spPr>
          <a:xfrm>
            <a:off x="5347307" y="4214476"/>
            <a:ext cx="1586812" cy="917059"/>
          </a:xfrm>
          <a:prstGeom prst="rect">
            <a:avLst/>
          </a:prstGeom>
          <a:noFill/>
          <a:ln/>
        </p:spPr>
        <p:txBody>
          <a:bodyPr wrap="square" lIns="0" tIns="0" rIns="0" bIns="0" rtlCol="0" anchor="t">
            <a:normAutofit/>
          </a:bodyPr>
          <a:lstStyle/>
          <a:p>
            <a:pPr marL="0" indent="0" algn="ctr">
              <a:lnSpc>
                <a:spcPct val="104000"/>
              </a:lnSpc>
              <a:buNone/>
            </a:pPr>
            <a:r>
              <a:rPr lang="en-US" sz="1900" dirty="0">
                <a:solidFill>
                  <a:srgbClr val="3C3939"/>
                </a:solidFill>
                <a:latin typeface="Raleway" pitchFamily="34" charset="0"/>
                <a:ea typeface="Raleway" pitchFamily="34" charset="-122"/>
                <a:cs typeface="Raleway" pitchFamily="34" charset="-120"/>
              </a:rPr>
              <a:t>Passive Reconfiguration</a:t>
            </a:r>
            <a:endParaRPr lang="en-US" sz="1900" dirty="0"/>
          </a:p>
        </p:txBody>
      </p:sp>
      <p:sp>
        <p:nvSpPr>
          <p:cNvPr id="6" name="Text 3"/>
          <p:cNvSpPr/>
          <p:nvPr/>
        </p:nvSpPr>
        <p:spPr>
          <a:xfrm>
            <a:off x="3314884" y="4367319"/>
            <a:ext cx="1586812" cy="611372"/>
          </a:xfrm>
          <a:prstGeom prst="rect">
            <a:avLst/>
          </a:prstGeom>
          <a:noFill/>
          <a:ln/>
        </p:spPr>
        <p:txBody>
          <a:bodyPr wrap="square" lIns="0" tIns="0" rIns="0" bIns="0" rtlCol="0" anchor="t">
            <a:normAutofit/>
          </a:bodyPr>
          <a:lstStyle/>
          <a:p>
            <a:pPr marL="0" indent="0" algn="ctr">
              <a:lnSpc>
                <a:spcPct val="104000"/>
              </a:lnSpc>
              <a:buNone/>
            </a:pPr>
            <a:r>
              <a:rPr lang="en-US" sz="1900" dirty="0">
                <a:solidFill>
                  <a:srgbClr val="3C3939"/>
                </a:solidFill>
                <a:latin typeface="Raleway" pitchFamily="34" charset="0"/>
                <a:ea typeface="Raleway" pitchFamily="34" charset="-122"/>
                <a:cs typeface="Raleway" pitchFamily="34" charset="-120"/>
              </a:rPr>
              <a:t>CFOA-MISO Design</a:t>
            </a:r>
            <a:endParaRPr lang="en-US" sz="1900" dirty="0"/>
          </a:p>
        </p:txBody>
      </p:sp>
      <p:sp>
        <p:nvSpPr>
          <p:cNvPr id="7" name="Text 4"/>
          <p:cNvSpPr/>
          <p:nvPr/>
        </p:nvSpPr>
        <p:spPr>
          <a:xfrm>
            <a:off x="661475" y="5611614"/>
            <a:ext cx="10868745"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Our methodology focuses on minimizing component count while ensuring full reconfigurability, validated by both rigorous simulation and practical hardware testing for robust performance.</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710829"/>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B1B27"/>
                </a:solidFill>
                <a:latin typeface="Raleway" pitchFamily="34" charset="0"/>
                <a:ea typeface="Raleway" pitchFamily="34" charset="-122"/>
                <a:cs typeface="Raleway" pitchFamily="34" charset="-120"/>
              </a:rPr>
              <a:t>Expected Outcomes &amp; Conclusion</a:t>
            </a:r>
            <a:endParaRPr lang="en-US" sz="3700" dirty="0"/>
          </a:p>
        </p:txBody>
      </p:sp>
      <p:sp>
        <p:nvSpPr>
          <p:cNvPr id="3" name="Text 1"/>
          <p:cNvSpPr/>
          <p:nvPr/>
        </p:nvSpPr>
        <p:spPr>
          <a:xfrm>
            <a:off x="661475" y="2584946"/>
            <a:ext cx="11478330" cy="302419"/>
          </a:xfrm>
          <a:prstGeom prst="rect">
            <a:avLst/>
          </a:prstGeom>
          <a:noFill/>
          <a:ln/>
        </p:spPr>
        <p:txBody>
          <a:bodyPr wrap="none" lIns="0" tIns="0" rIns="0" bIns="0" rtlCol="0" anchor="t"/>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Our novel approach delivers significant advancements in reconfigurable filter design for speech processing.</a:t>
            </a:r>
            <a:endParaRPr lang="en-US" sz="14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3099991"/>
            <a:ext cx="3496877" cy="2047180"/>
          </a:xfrm>
          <a:prstGeom prst="rect">
            <a:avLst/>
          </a:prstGeom>
        </p:spPr>
      </p:pic>
      <p:sp>
        <p:nvSpPr>
          <p:cNvPr id="5" name="Text 2"/>
          <p:cNvSpPr/>
          <p:nvPr/>
        </p:nvSpPr>
        <p:spPr>
          <a:xfrm>
            <a:off x="977479" y="3314402"/>
            <a:ext cx="2966467"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Streamlined Topology</a:t>
            </a:r>
            <a:endParaRPr lang="en-US" sz="1850" dirty="0"/>
          </a:p>
        </p:txBody>
      </p:sp>
      <p:sp>
        <p:nvSpPr>
          <p:cNvPr id="6" name="Text 3"/>
          <p:cNvSpPr/>
          <p:nvPr/>
        </p:nvSpPr>
        <p:spPr>
          <a:xfrm>
            <a:off x="977479" y="3723084"/>
            <a:ext cx="2966467"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Unified resonator–anti-resonator design achieved a </a:t>
            </a:r>
            <a:r>
              <a:rPr lang="en-US" sz="1450" b="1" dirty="0">
                <a:solidFill>
                  <a:srgbClr val="3C3939"/>
                </a:solidFill>
                <a:latin typeface="Roboto Bold" pitchFamily="34" charset="0"/>
                <a:ea typeface="Roboto Bold" pitchFamily="34" charset="-122"/>
                <a:cs typeface="Roboto Bold" pitchFamily="34" charset="-120"/>
              </a:rPr>
              <a:t>50% reduction</a:t>
            </a:r>
            <a:r>
              <a:rPr lang="en-US" sz="1450" dirty="0">
                <a:solidFill>
                  <a:srgbClr val="3C3939"/>
                </a:solidFill>
                <a:latin typeface="Roboto" pitchFamily="34" charset="0"/>
                <a:ea typeface="Roboto" pitchFamily="34" charset="-122"/>
                <a:cs typeface="Roboto" pitchFamily="34" charset="-120"/>
              </a:rPr>
              <a:t> in active elements compared to previous CFOA methods.</a:t>
            </a:r>
            <a:endParaRPr lang="en-US" sz="145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47359" y="3099991"/>
            <a:ext cx="3496877" cy="2047180"/>
          </a:xfrm>
          <a:prstGeom prst="rect">
            <a:avLst/>
          </a:prstGeom>
        </p:spPr>
      </p:pic>
      <p:sp>
        <p:nvSpPr>
          <p:cNvPr id="8" name="Text 4"/>
          <p:cNvSpPr/>
          <p:nvPr/>
        </p:nvSpPr>
        <p:spPr>
          <a:xfrm>
            <a:off x="4663363" y="3314402"/>
            <a:ext cx="2966467"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Validated Performance</a:t>
            </a:r>
            <a:endParaRPr lang="en-US" sz="1850" dirty="0"/>
          </a:p>
        </p:txBody>
      </p:sp>
      <p:sp>
        <p:nvSpPr>
          <p:cNvPr id="9" name="Text 5"/>
          <p:cNvSpPr/>
          <p:nvPr/>
        </p:nvSpPr>
        <p:spPr>
          <a:xfrm>
            <a:off x="4663363" y="3723084"/>
            <a:ext cx="2966467"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Experimental frequency response precisely matches theoretical predictions, ensuring reliable and accurate operation.</a:t>
            </a:r>
            <a:endParaRPr lang="en-US" sz="14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33244" y="3099991"/>
            <a:ext cx="3496877" cy="2047180"/>
          </a:xfrm>
          <a:prstGeom prst="rect">
            <a:avLst/>
          </a:prstGeom>
        </p:spPr>
      </p:pic>
      <p:sp>
        <p:nvSpPr>
          <p:cNvPr id="11" name="Text 6"/>
          <p:cNvSpPr/>
          <p:nvPr/>
        </p:nvSpPr>
        <p:spPr>
          <a:xfrm>
            <a:off x="8349247" y="3314402"/>
            <a:ext cx="2966467" cy="295275"/>
          </a:xfrm>
          <a:prstGeom prst="rect">
            <a:avLst/>
          </a:prstGeom>
          <a:noFill/>
          <a:ln/>
        </p:spPr>
        <p:txBody>
          <a:bodyPr wrap="none" lIns="0" tIns="0" rIns="0" bIns="0" rtlCol="0" anchor="t"/>
          <a:lstStyle/>
          <a:p>
            <a:pPr marL="0" indent="0" algn="l">
              <a:lnSpc>
                <a:spcPct val="104000"/>
              </a:lnSpc>
              <a:buNone/>
            </a:pPr>
            <a:r>
              <a:rPr lang="en-US" sz="1850" dirty="0">
                <a:solidFill>
                  <a:srgbClr val="3C3939"/>
                </a:solidFill>
                <a:latin typeface="Raleway" pitchFamily="34" charset="0"/>
                <a:ea typeface="Raleway" pitchFamily="34" charset="-122"/>
                <a:cs typeface="Raleway" pitchFamily="34" charset="-120"/>
              </a:rPr>
              <a:t>Practical Applications</a:t>
            </a:r>
            <a:endParaRPr lang="en-US" sz="1850" dirty="0"/>
          </a:p>
        </p:txBody>
      </p:sp>
      <p:sp>
        <p:nvSpPr>
          <p:cNvPr id="12" name="Text 7"/>
          <p:cNvSpPr/>
          <p:nvPr/>
        </p:nvSpPr>
        <p:spPr>
          <a:xfrm>
            <a:off x="8349247" y="3723084"/>
            <a:ext cx="2966467"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3C3939"/>
                </a:solidFill>
                <a:latin typeface="Roboto" pitchFamily="34" charset="0"/>
                <a:ea typeface="Roboto" pitchFamily="34" charset="-122"/>
                <a:cs typeface="Roboto" pitchFamily="34" charset="-120"/>
              </a:rPr>
              <a:t>The reconfigurable filters demonstrate high applicability and efficiency for modern speech processing systems.</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653</Words>
  <Application>Microsoft Office PowerPoint</Application>
  <PresentationFormat>Widescreen</PresentationFormat>
  <Paragraphs>71</Paragraphs>
  <Slides>11</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Cambria</vt:lpstr>
      <vt:lpstr>Roboto Bold</vt:lpstr>
      <vt:lpstr>Candara</vt:lpstr>
      <vt:lpstr>Arial</vt:lpstr>
      <vt:lpstr>Roboto</vt:lpstr>
      <vt:lpstr>Raleway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Bana Yogini</dc:creator>
  <cp:lastModifiedBy>Bana Yogini</cp:lastModifiedBy>
  <cp:revision>3</cp:revision>
  <dcterms:created xsi:type="dcterms:W3CDTF">2026-08-20T16:14:55Z</dcterms:created>
  <dcterms:modified xsi:type="dcterms:W3CDTF">2026-08-20T16:56:21Z</dcterms:modified>
</cp:coreProperties>
</file>